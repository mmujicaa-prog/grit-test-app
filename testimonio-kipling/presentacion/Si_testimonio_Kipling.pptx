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PANTALLA PREVIA mientras entra el público. No empieces hasta el silencio.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(negro total).</a:t>
            </a:r>
          </a:p>
          <a:p/>
          <a:p>
            <a:r>
              <a:t>"Hay una puerta. Y detrás de ella, mi familia espera. Felices. Aguardando que yo salga con dos buenas noticias: acaban de nacer mis mellizos."</a:t>
            </a:r>
          </a:p>
          <a:p/>
          <a:p>
            <a:r>
              <a:t>(Pausa.)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(sigue en negro).</a:t>
            </a:r>
          </a:p>
          <a:p/>
          <a:p>
            <a:r>
              <a:t>"Pero de este lado de la puerta, yo acabo de ver cómo un equipo de médicos se lanzaba sobre mi segundo hijo. Azul. Inerte. Peleando por devolverlo a la vida."</a:t>
            </a:r>
          </a:p>
          <a:p/>
          <a:p>
            <a:r>
              <a:t>(Pausa, más lento.)</a:t>
            </a:r>
          </a:p>
          <a:p>
            <a:r>
              <a:t>"Y ahora tengo que poner la mano en el pomo… y salir a dar calma. A contener a todos. Mientras por dentro me estoy muriendo."</a:t>
            </a:r>
          </a:p>
          <a:p/>
          <a:p>
            <a:r>
              <a:t>(Silencio. 3 segundos.)</a:t>
            </a:r>
          </a:p>
          <a:p>
            <a:r>
              <a:t>"Tenía que mantener la cabeza cuando todo —dentro de mí— se derrumbaba. Lo que yo no sabía entonces… es que un poema escrito hace más de cien años ya me había explicado cómo."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PROMESA (sube luz suave, apareces).</a:t>
            </a:r>
          </a:p>
          <a:p/>
          <a:p>
            <a:r>
              <a:t>"Me llamo Miguel Mujica. Y durante años llevé un poema en el bolsillo. No es mío: lo escribió Rudyard Kipling hace más de un siglo, para su hijo. Se llama If — Si."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 no lo leí como literatura. Lo leí como un mapa. Cada vez que la vida me ponía a prueba, una de sus líneas me decía qué clase de hombre tenía que ser para salir adelante."</a:t>
            </a:r>
          </a:p>
          <a:p/>
          <a:p>
            <a:r>
              <a:t>"Hoy quiero contaros mi historia a través de ese mapa. Cuatro pruebas. Cuatro versos. Y al final, dejaré que un hombre os lea el poema entero, mucho mejor de lo que yo podría hacerlo. Empecemos por esa puerta."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ACTO I — SERENIDAD (luz baja, voz en confidencia). Lee el verso despacio. Pausa 2 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ACTO I — historia (negro, máxima intimidad).</a:t>
            </a:r>
          </a:p>
          <a:p/>
          <a:p>
            <a:r>
              <a:t>"Volvamos a esa sala de partos. Nace mi primer hijo. Llora. Respira. Está vivo, está perfecto. Y por un instante el mundo es exactamente como lo había soñado."</a:t>
            </a:r>
          </a:p>
          <a:p>
            <a:r>
              <a:t>"Pero esperábamos mellizos. Detrás venía el segundo."</a:t>
            </a:r>
          </a:p>
          <a:p/>
          <a:p>
            <a:r>
              <a:t>(Bajar el ritmo.)</a:t>
            </a:r>
          </a:p>
          <a:p>
            <a:r>
              <a:t>"Iñaki nace azul. Inerte. No llora. No se mueve."</a:t>
            </a:r>
          </a:p>
          <a:p>
            <a:r>
              <a:t>(Silencio 2-3 s.) "No respira."</a:t>
            </a:r>
          </a:p>
          <a:p>
            <a:r>
              <a:t>"Y entonces la sala estalla. El equipo médico se lanza sobre él. Reanimación. Unos segundos que duran años."</a:t>
            </a:r>
          </a:p>
          <a:p/>
          <a:p>
            <a:r>
              <a:t>(Tensión.)</a:t>
            </a:r>
          </a:p>
          <a:p>
            <a:r>
              <a:t>"Y yo sabía algo que no podía probar. Lo intuía: aquello quizá podría haberse evitado. Algo se había retrasado más de la cuenta. Sentí subir la rabia… pero ese no era el momento de la rabia."</a:t>
            </a:r>
          </a:p>
          <a:p/>
          <a:p>
            <a:r>
              <a:t>(Payoff del hook: cruzamos la puerta.)</a:t>
            </a:r>
          </a:p>
          <a:p>
            <a:r>
              <a:t>"Y así llegué a aquella puerta del principio. Detrás esperaba mi familia, feliz, aguardando dos buenas noticias. Y me tocaba a mí salir y contarles lo de Iñaki."</a:t>
            </a:r>
          </a:p>
          <a:p>
            <a:r>
              <a:t>"Era el minuto de dar calma. De contener. De sostener a todos los demás… mientras yo me moría por dentro. Salí. Di la calma. Y solo cuando todos estuvieron tranquilos, me permití temblar."</a:t>
            </a:r>
          </a:p>
          <a:p/>
          <a:p>
            <a:r>
              <a:t>(Desenlace sobrio.)</a:t>
            </a:r>
          </a:p>
          <a:p>
            <a:r>
              <a:t>"Tres días luchando por su vida. Dos semanas en la UCI. Iñaki sobrevivió. Vive. Con secuelas, sí. Pero vive."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del acto, mirando al público:</a:t>
            </a:r>
          </a:p>
          <a:p/>
          <a:p>
            <a:r>
              <a:t>"Ese día aprendí que mantener la cabeza no es dejar de sentir. Es sentirlo todo —el miedo, la rabia, el dolor— y aun así ser el lugar firme donde los demás se apoyan…"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ACTO II — EQUILIBRIO (tono narrativo). Lee el verso.</a:t>
            </a:r>
          </a:p>
          <a:p/>
          <a:p>
            <a:r>
              <a:t>"Impostores. Esa palabra me costó años entenderla. Dejadme contaros por qué."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TRIUNFO.</a:t>
            </a:r>
          </a:p>
          <a:p/>
          <a:p>
            <a:r>
              <a:t>"Tras años aprendiendo de grandes jefes, me invitan a una gran compañía: Parque Arauco. Empresa en bolsa, recién capitalizada nada menos que por Sam Zell, el gurú inmobiliario norteamericano, con un plan de expansión por toda la región. Y me piden a mí que lidere esa expansión."</a:t>
            </a:r>
          </a:p>
          <a:p>
            <a:r>
              <a:t>"Era jugar en una liga de clase mundial. Y jugué. Los proyectos volaban, creábamos hitos urbanos, trataba a diario con la alta dirección. Se me abrían todas las puertas. Mi prestigio tocaba techo. Todo fluía."</a:t>
            </a:r>
          </a:p>
          <a:p/>
          <a:p>
            <a:r>
              <a:t>(El precio oculto.)</a:t>
            </a:r>
          </a:p>
          <a:p>
            <a:r>
              <a:t>"El triunfo, eso sí, cobraba su precio en silencio: vivía más fuera de casa que dentro, la espalda empezó a pasarme factura, el estrés era brutal. Pero… ¿quién se queja cuando todo brilla?"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GIRO.</a:t>
            </a:r>
          </a:p>
          <a:p/>
          <a:p>
            <a:r>
              <a:t>"Hasta que un día me avisan: el vicepresidente ejecutivo se va. Llega otro. Y en menos de seis meses, el nuevo decide reestructurar la compañía y desarmar, entera, el área de expansión. Mi área."</a:t>
            </a:r>
          </a:p>
          <a:p>
            <a:r>
              <a:t>"Me ofrecen dos caminos: seguir desde fuera, como externo, o quedarme dentro… en un puesto que era, claramente, un paso atrás."</a:t>
            </a:r>
          </a:p>
          <a:p>
            <a:r>
              <a:t>(Pausa.) "En ese minuto, todo se venía abajo. ¿Qué hago? ¿Cómo lo hago?"</a:t>
            </a:r>
          </a:p>
          <a:p/>
          <a:p>
            <a:r>
              <a:t>(La reconstrucción.)</a:t>
            </a:r>
          </a:p>
          <a:p>
            <a:r>
              <a:t>"Decidí independizarme. Montar mi propia empresa de servicios inmobiliarios de alta especialización."</a:t>
            </a:r>
          </a:p>
          <a:p>
            <a:r>
              <a:t>"Y ahí descubrí lo que de verdad significa reconstruir con las herramientas gastadas. Porque emprender es difícil… pero más difícil es domar el ego."</a:t>
            </a:r>
          </a:p>
          <a:p>
            <a:r>
              <a:t>"Mi antiguo equipo pasó a ser mi cliente. Cada vez que llegaba a las oficinas de Chile, de Perú, de Colombia, tenía que presentarme. Esperar a que me recibieran. Perseguir el pago de mis facturas."</a:t>
            </a:r>
          </a:p>
          <a:p>
            <a:r>
              <a:t>"Pasé de ser el jefe exitoso a un proveedor que tenía todo por demostrar. Y flotaba una pregunta razonable —que yo también me hacía—: «Miguel Mujica, fuera de Parque Arauco, ¿seguirá siendo el mismo profesional?»"</a:t>
            </a:r>
          </a:p>
          <a:p/>
          <a:p>
            <a:r>
              <a:t>(La lección.)</a:t>
            </a:r>
          </a:p>
          <a:p>
            <a:r>
              <a:t>"Entonces entendí a Kipling. El Triunfo me había hecho creer que aquel éxito era enteramente mío… cuando buena parte era de la institución. Y el Desastre quería convencerme de que, sin ella, no era nadie. Los dos mentían."</a:t>
            </a:r>
          </a:p>
          <a:p>
            <a:r>
              <a:t>"Mi nueva vida exigió humildad. Convencer en vez de ordenar. La soledad de no tener equipo. Ser, a la vez, el director general, el de operaciones, el comercial y el técnico."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DESENLACE.</a:t>
            </a:r>
          </a:p>
          <a:p/>
          <a:p>
            <a:r>
              <a:t>"Trece años después, esa empresa —Ardatz— ha crecido y opera hoy en varios países."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"…Pero ninguno de los dos dice la verdad. La verdad la escribes tú, después, con lo que decides reconstruir."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ACTO III — RESILIENCIA · CLÍMAX (luz más baja). Lee el verso despacio.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CIMA.</a:t>
            </a:r>
          </a:p>
          <a:p/>
          <a:p>
            <a:r>
              <a:t>"Salíamos de la pandemia y decidí dar otro salto: me llevo a la familia a Madrid, para abrir Ardatz a Europa. Ilusión nueva, una ciudad segura, calidad de vida, desafíos por delante. Una aventura fantástica."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DEUDA DEL CUERPO.</a:t>
            </a:r>
          </a:p>
          <a:p/>
          <a:p>
            <a:r>
              <a:t>"Pero la huella de mi vida no me dejaba tranquilo. De joven jugué al rugby, y aquellas lesiones de disco llevaban treinta años esperando. Por fin llego a quirófano: me operan en Chile y me recupero en España."</a:t>
            </a:r>
          </a:p>
          <a:p>
            <a:r>
              <a:t>"Me dan el alta. Empiezo a reincorporarme al deporte con un equipo increíble. Pero a los tres meses no avanzo. Me mandan a hacer pruebas."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GOLPE (negro absoluto, que la palabra caiga sin imagen).</a:t>
            </a:r>
          </a:p>
          <a:p/>
          <a:p>
            <a:r>
              <a:t>"Llegan los resultados: lesiones en la mielina de mi columna."</a:t>
            </a:r>
          </a:p>
          <a:p>
            <a:r>
              <a:t>(Pausa.) "Esclerosis múltiple."</a:t>
            </a:r>
          </a:p>
          <a:p/>
          <a:p>
            <a:r>
              <a:t>(Tu hermano.)</a:t>
            </a:r>
          </a:p>
          <a:p>
            <a:r>
              <a:t>"Mi hermano, que es médico, intenta consolarme: «Lo bueno es que esto no mata» —pensando, por ejemplo, en un cáncer. Y es verdad: no mata. Pero es neurodegenerativa. La calidad de vida se va deteriorando, poco a poco."</a:t>
            </a:r>
          </a:p>
          <a:p>
            <a:r>
              <a:t>"Tenía cuarenta y nueve años. Y sentí que empezaba el segundo tiempo de mi vida."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FONDO DEL POZO — la pérdida de control. Lo más íntimo.</a:t>
            </a:r>
          </a:p>
          <a:p/>
          <a:p>
            <a:r>
              <a:t>"Entender la enfermedad me llevó tiempo. Pronto supe que no era ELA, y eso —dentro de todo— fue un alivio. Pero saber que llevas dentro algo que ataca tu sistema nervioso central… y que no avisa: eso fue lo que más me costó sobrellevar."</a:t>
            </a:r>
          </a:p>
          <a:p>
            <a:r>
              <a:t>"Porque yo, toda mi vida, he sido un hombre de planes. Planificar. Ejecutar lo planificado. Aprender de lo vivido. Y si algo cambiaba, reaccionar rápido y volver a planificar."</a:t>
            </a:r>
          </a:p>
          <a:p>
            <a:r>
              <a:t>(Pausa.) "Y de golpe, con la esclerosis, nada —nada— estaba bajo mi control. Solo me quedaba confiar. Y esperar que mi equipo médico tomara, por mí, las decisiones que yo siempre había tomado solo."</a:t>
            </a:r>
          </a:p>
          <a:p/>
          <a:p>
            <a:r>
              <a:t>(El duelo compartido.)</a:t>
            </a:r>
          </a:p>
          <a:p>
            <a:r>
              <a:t>"El duelo de una enfermedad así es largo. Empieza en uno mismo. Pero pronto entiendes que tu familia, tus amigos, la gente que trabaja contigo… también están viviendo el suyo."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CHISPA — la Voluntad. La metáfora de las velas.</a:t>
            </a:r>
          </a:p>
          <a:p/>
          <a:p>
            <a:r>
              <a:t>"Y aun así, la vida continúa. Hoy, con un buen tratamiento que frena la enfermedad, he vuelto a ser el protagonista de mi propia vida. Y aprendí algo que no estaba en ninguno de mis planes: que no puedo controlar el viento… pero sí puedo ajustar las velas cuando cambian las condiciones."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GIRO — el «para qué», puente al Acto IV. Pausa larga después.</a:t>
            </a:r>
          </a:p>
          <a:p/>
          <a:p>
            <a:r>
              <a:t>"Y entonces la pregunta cambió. Ya no era «¿cuánto voy a vivir?». Era otra, mucho más importante…"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ACTO IV — INTEGRIDAD Y PROPÓSITO (luz cálida, cercano). Lee el verso.</a:t>
            </a:r>
          </a:p>
          <a:p/>
          <a:p>
            <a:r>
              <a:t>(Reyes y trato sencillo — vivido literalmente.)</a:t>
            </a:r>
          </a:p>
          <a:p>
            <a:r>
              <a:t>"He caminado con reyes: me he sentado con la alta dirección, he tratado con gurús de los negocios. Y también he esperado, de pie, en una recepción, a que un antiguo colaborador me recibiera. Os confieso una cosa: aprendí más en la sala de espera."</a:t>
            </a:r>
          </a:p>
          <a:p/>
          <a:p>
            <a:r>
              <a:t>(Callback del minuto.)</a:t>
            </a:r>
          </a:p>
          <a:p>
            <a:r>
              <a:t>"¿Recordáis aquel minuto en la sala de partos? El minuto en que tuve que dar calma mientras me moría por dentro. Kipling lo llama «el implacable minuto». La vida entera está hecha de minutos así. Y la pregunta ya no es cuántos me quedan. Es con cuántos segundos de verdad los lleno."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TRANSFORMACIÓN — el «para qué».</a:t>
            </a:r>
          </a:p>
          <a:p/>
          <a:p>
            <a:r>
              <a:t>"Yo fui un hombre de planes. Planificaba cada paso para llegar a un punto: el cargo, el proyecto, la meta siguiente. Y la vida me enseñó —a golpes— la lección que más me costó aprender: que tanto planificar era para alcanzar un destino… cuando lo que de verdad importa es la travesía."</a:t>
            </a:r>
          </a:p>
          <a:p>
            <a:r>
              <a:t>"Hoy tengo claro mi para qué. Quiero ser el protagonista de mi vida; no el espectador de mi enfermedad ni de mis circunstancias. ¿Con quién? Con los míos —los mismos que estuvieron al otro lado de aquella puerta—. ¿Para qué? Para recorrer el camino, no para coleccionar metas."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RECAPITULACIÓN (las cuatro palabras en cascada).</a:t>
            </a:r>
          </a:p>
          <a:p/>
          <a:p>
            <a:r>
              <a:t>"Cuatro versos. Cuatro pruebas. Serenidad cuando todo arde. Equilibrio ante el triunfo y el desastre. Resistir cuando no queda nada. E integridad para elegir, cada día, quién quiero ser."</a:t>
            </a:r>
          </a:p>
          <a:p>
            <a:r>
              <a:t>"Kipling no escribió una lista de logros. Escribió una lista de decisiones. Casi todo el poema es un «si puedes…» —el camino—, y solo el final es la recompensa. Hasta Kipling lo sabía: la meta… es el camino."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IDEA-FUERZA — la frase que el público se lleva a casa.</a:t>
            </a:r>
          </a:p>
          <a:p/>
          <a:p>
            <a:r>
              <a:t>"Así que esto es lo que me gustaría que os llevarais…"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PUENTE AL VÍDEO (negro; prepara el reproductor).</a:t>
            </a:r>
          </a:p>
          <a:p/>
          <a:p>
            <a:r>
              <a:t>"Os dije que dejaría que alguien os leyera el poema entero. Hay un hombre que lo dice mejor que yo. Escuchadlo."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VÍDEO — Michael Caine recita «If—» con subtítulos en español.</a:t>
            </a:r>
          </a:p>
          <a:p/>
          <a:p>
            <a:r>
              <a:t>Inserta aquí el clip (carpeta video/ del repo: subtitulos-if-michael-caine-ES.srt).</a:t>
            </a:r>
          </a:p>
          <a:p>
            <a:r>
              <a:t>NO hablas. Quédate quieto, mirando la pantalla con el público.</a:t>
            </a:r>
          </a:p>
          <a:p>
            <a:r>
              <a:t>Recuerda: vídeo en local + copia de seguridad. Audio probado en la sala.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FRASE FINAL (el vídeo termina; 2-3 s de silencio total).</a:t>
            </a:r>
          </a:p>
          <a:p/>
          <a:p>
            <a:r>
              <a:t>"Aquel segundo hijo que nació azul… Iñaki… hoy camina a mi lado. Con sus secuelas, sí. Pero camina. Y cada paso suyo me recuerda que la meta siempre fue esta: el camino. Juntos."</a:t>
            </a:r>
          </a:p>
          <a:p>
            <a:r>
              <a:t>(Pausa.) "Gracias."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Mantén esta pantalla. El silencio es el aplauso. No añadas nada más.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914400" y="2377440"/>
            <a:ext cx="10362895" cy="1463040"/>
          </a:xfrm>
          <a:prstGeom prst="rect">
            <a:avLst/>
          </a:prstGeom>
          <a:noFill/>
        </p:spPr>
        <p:txBody>
          <a:bodyPr wrap="square" anchor="ctr">
            <a:spAutoFit/>
          </a:bodyPr>
          <a:lstStyle/>
          <a:p>
            <a:pPr algn="ctr"/>
            <a:r>
              <a:rPr sz="7200" b="0" i="0">
                <a:solidFill>
                  <a:srgbClr val="F2F0EB"/>
                </a:solidFill>
                <a:latin typeface="Georgia"/>
              </a:rPr>
              <a:t>Si</a:t>
            </a:r>
          </a:p>
        </p:txBody>
      </p:sp>
      <p:sp>
        <p:nvSpPr>
          <p:cNvPr id="3" name="TextBox 2"/>
          <p:cNvSpPr txBox="1"/>
          <p:nvPr/>
        </p:nvSpPr>
        <p:spPr>
          <a:xfrm>
            <a:off x="914400" y="3931920"/>
            <a:ext cx="10362895" cy="914400"/>
          </a:xfrm>
          <a:prstGeom prst="rect">
            <a:avLst/>
          </a:prstGeom>
          <a:noFill/>
        </p:spPr>
        <p:txBody>
          <a:bodyPr wrap="square" anchor="ctr">
            <a:spAutoFit/>
          </a:bodyPr>
          <a:lstStyle/>
          <a:p>
            <a:pPr algn="ctr"/>
            <a:r>
              <a:rPr sz="2200" b="0" i="0">
                <a:solidFill>
                  <a:srgbClr val="8A8A8A"/>
                </a:solidFill>
                <a:latin typeface="Calibri"/>
              </a:rPr>
              <a:t>Miguel Mujica  ·  un testimonio sobre el poema «If» de Rudyard Kipling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914400" y="2377440"/>
            <a:ext cx="10362895" cy="1463040"/>
          </a:xfrm>
          <a:prstGeom prst="rect">
            <a:avLst/>
          </a:prstGeom>
          <a:noFill/>
        </p:spPr>
        <p:txBody>
          <a:bodyPr wrap="square" anchor="ctr">
            <a:spAutoFit/>
          </a:bodyPr>
          <a:lstStyle/>
          <a:p>
            <a:pPr algn="ctr"/>
            <a:r>
              <a:rPr sz="7200" b="0" i="0">
                <a:solidFill>
                  <a:srgbClr val="F2F0EB"/>
                </a:solidFill>
                <a:latin typeface="Georgia"/>
              </a:rPr>
              <a:t>If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2286000" y="2743200"/>
            <a:ext cx="7619695" cy="1371600"/>
          </a:xfrm>
          <a:prstGeom prst="rect">
            <a:avLst/>
          </a:prstGeom>
          <a:noFill/>
        </p:spPr>
        <p:txBody>
          <a:bodyPr wrap="square" anchor="ctr">
            <a:spAutoFit/>
          </a:bodyPr>
          <a:lstStyle/>
          <a:p>
            <a:pPr algn="ctr"/>
            <a:r>
              <a:rPr sz="1800" i="1">
                <a:solidFill>
                  <a:srgbClr val="8A8A8A"/>
                </a:solidFill>
                <a:latin typeface="Calibri"/>
              </a:rPr>
              <a:t>🖼️  Tu mano con el poema / un libro gastado  (opcional; si no, deja negro)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914400" y="914400"/>
            <a:ext cx="10362895" cy="731520"/>
          </a:xfrm>
          <a:prstGeom prst="rect">
            <a:avLst/>
          </a:prstGeom>
          <a:noFill/>
        </p:spPr>
        <p:txBody>
          <a:bodyPr wrap="square" anchor="ctr">
            <a:spAutoFit/>
          </a:bodyPr>
          <a:lstStyle/>
          <a:p>
            <a:pPr algn="ctr"/>
            <a:r>
              <a:rPr sz="2000" b="1" i="0">
                <a:solidFill>
                  <a:srgbClr val="C9A227"/>
                </a:solidFill>
                <a:latin typeface="Calibri"/>
              </a:rPr>
              <a:t>SERENIDAD</a:t>
            </a:r>
          </a:p>
        </p:txBody>
      </p:sp>
      <p:sp>
        <p:nvSpPr>
          <p:cNvPr id="3" name="TextBox 2"/>
          <p:cNvSpPr txBox="1"/>
          <p:nvPr/>
        </p:nvSpPr>
        <p:spPr>
          <a:xfrm>
            <a:off x="1097280" y="2194560"/>
            <a:ext cx="9997135" cy="2743200"/>
          </a:xfrm>
          <a:prstGeom prst="rect">
            <a:avLst/>
          </a:prstGeom>
          <a:noFill/>
        </p:spPr>
        <p:txBody>
          <a:bodyPr wrap="square" anchor="ctr">
            <a:spAutoFit/>
          </a:bodyPr>
          <a:lstStyle/>
          <a:p>
            <a:pPr algn="ctr"/>
            <a:r>
              <a:rPr sz="3400" i="1">
                <a:solidFill>
                  <a:srgbClr val="F2F0EB"/>
                </a:solidFill>
                <a:latin typeface="Georgia"/>
              </a:rPr>
              <a:t>«Si puedes mantener la cabeza cuando todos a tu alrededor
la pierden y te culpan a ti…»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914400" y="2377440"/>
            <a:ext cx="10362895" cy="2103120"/>
          </a:xfrm>
          <a:prstGeom prst="rect">
            <a:avLst/>
          </a:prstGeom>
          <a:noFill/>
        </p:spPr>
        <p:txBody>
          <a:bodyPr wrap="square" anchor="ctr">
            <a:spAutoFit/>
          </a:bodyPr>
          <a:lstStyle/>
          <a:p>
            <a:pPr algn="ctr"/>
            <a:r>
              <a:rPr sz="3400" b="0" i="1">
                <a:solidFill>
                  <a:srgbClr val="F2F0EB"/>
                </a:solidFill>
                <a:latin typeface="Georgia"/>
              </a:rPr>
              <a:t>La serenidad no es la ausencia de la tormenta.
Es lo que decides hacer dentro de ella.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914400" y="914400"/>
            <a:ext cx="10362895" cy="731520"/>
          </a:xfrm>
          <a:prstGeom prst="rect">
            <a:avLst/>
          </a:prstGeom>
          <a:noFill/>
        </p:spPr>
        <p:txBody>
          <a:bodyPr wrap="square" anchor="ctr">
            <a:spAutoFit/>
          </a:bodyPr>
          <a:lstStyle/>
          <a:p>
            <a:pPr algn="ctr"/>
            <a:r>
              <a:rPr sz="2000" b="1" i="0">
                <a:solidFill>
                  <a:srgbClr val="C9A227"/>
                </a:solidFill>
                <a:latin typeface="Calibri"/>
              </a:rPr>
              <a:t>EQUILIBRIO</a:t>
            </a:r>
          </a:p>
        </p:txBody>
      </p:sp>
      <p:sp>
        <p:nvSpPr>
          <p:cNvPr id="3" name="TextBox 2"/>
          <p:cNvSpPr txBox="1"/>
          <p:nvPr/>
        </p:nvSpPr>
        <p:spPr>
          <a:xfrm>
            <a:off x="1097280" y="2194560"/>
            <a:ext cx="9997135" cy="2743200"/>
          </a:xfrm>
          <a:prstGeom prst="rect">
            <a:avLst/>
          </a:prstGeom>
          <a:noFill/>
        </p:spPr>
        <p:txBody>
          <a:bodyPr wrap="square" anchor="ctr">
            <a:spAutoFit/>
          </a:bodyPr>
          <a:lstStyle/>
          <a:p>
            <a:pPr algn="ctr"/>
            <a:r>
              <a:rPr sz="3400" i="1">
                <a:solidFill>
                  <a:srgbClr val="F2F0EB"/>
                </a:solidFill>
                <a:latin typeface="Georgia"/>
              </a:rPr>
              <a:t>«Si puedes encontrarte con el Triunfo y el Desastre
y tratar igual a esos dos impostores…»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2286000" y="2743200"/>
            <a:ext cx="7619695" cy="1371600"/>
          </a:xfrm>
          <a:prstGeom prst="rect">
            <a:avLst/>
          </a:prstGeom>
          <a:noFill/>
        </p:spPr>
        <p:txBody>
          <a:bodyPr wrap="square" anchor="ctr">
            <a:spAutoFit/>
          </a:bodyPr>
          <a:lstStyle/>
          <a:p>
            <a:pPr algn="ctr"/>
            <a:r>
              <a:rPr sz="1800" i="1">
                <a:solidFill>
                  <a:srgbClr val="8A8A8A"/>
                </a:solidFill>
                <a:latin typeface="Calibri"/>
              </a:rPr>
              <a:t>🖼️  Un hito urbano / proyecto de Parque Arauco que lideraste  (o logo PA)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914400" y="2194560"/>
            <a:ext cx="10362895" cy="1188720"/>
          </a:xfrm>
          <a:prstGeom prst="rect">
            <a:avLst/>
          </a:prstGeom>
          <a:noFill/>
        </p:spPr>
        <p:txBody>
          <a:bodyPr wrap="square" anchor="ctr">
            <a:spAutoFit/>
          </a:bodyPr>
          <a:lstStyle/>
          <a:p>
            <a:pPr algn="ctr"/>
            <a:r>
              <a:rPr sz="6000" b="0" i="0">
                <a:solidFill>
                  <a:srgbClr val="F2F0EB"/>
                </a:solidFill>
                <a:latin typeface="Georgia"/>
              </a:rPr>
              <a:t>ARDATZ</a:t>
            </a:r>
          </a:p>
        </p:txBody>
      </p:sp>
      <p:sp>
        <p:nvSpPr>
          <p:cNvPr id="3" name="TextBox 2"/>
          <p:cNvSpPr txBox="1"/>
          <p:nvPr/>
        </p:nvSpPr>
        <p:spPr>
          <a:xfrm>
            <a:off x="914400" y="3566160"/>
            <a:ext cx="10362895" cy="731520"/>
          </a:xfrm>
          <a:prstGeom prst="rect">
            <a:avLst/>
          </a:prstGeom>
          <a:noFill/>
        </p:spPr>
        <p:txBody>
          <a:bodyPr wrap="square" anchor="ctr">
            <a:spAutoFit/>
          </a:bodyPr>
          <a:lstStyle/>
          <a:p>
            <a:pPr algn="ctr"/>
            <a:r>
              <a:rPr sz="2200" b="0" i="0">
                <a:solidFill>
                  <a:srgbClr val="C9A227"/>
                </a:solidFill>
                <a:latin typeface="Calibri"/>
              </a:rPr>
              <a:t>13 años  ·  varios países</a:t>
            </a:r>
          </a:p>
        </p:txBody>
      </p:sp>
      <p:sp>
        <p:nvSpPr>
          <p:cNvPr id="4" name="TextBox 3"/>
          <p:cNvSpPr txBox="1"/>
          <p:nvPr/>
        </p:nvSpPr>
        <p:spPr>
          <a:xfrm>
            <a:off x="914400" y="4572000"/>
            <a:ext cx="10362895" cy="548640"/>
          </a:xfrm>
          <a:prstGeom prst="rect">
            <a:avLst/>
          </a:prstGeom>
          <a:noFill/>
        </p:spPr>
        <p:txBody>
          <a:bodyPr wrap="square" anchor="ctr">
            <a:spAutoFit/>
          </a:bodyPr>
          <a:lstStyle/>
          <a:p>
            <a:pPr algn="ctr"/>
            <a:r>
              <a:rPr sz="1300" b="0" i="1">
                <a:solidFill>
                  <a:srgbClr val="8A8A8A"/>
                </a:solidFill>
                <a:latin typeface="Calibri"/>
              </a:rPr>
              <a:t>🖼️ logo de Ardatz + mapa de países (sustituir)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914400" y="2377440"/>
            <a:ext cx="10362895" cy="2103120"/>
          </a:xfrm>
          <a:prstGeom prst="rect">
            <a:avLst/>
          </a:prstGeom>
          <a:noFill/>
        </p:spPr>
        <p:txBody>
          <a:bodyPr wrap="square" anchor="ctr">
            <a:spAutoFit/>
          </a:bodyPr>
          <a:lstStyle/>
          <a:p>
            <a:pPr algn="ctr"/>
            <a:r>
              <a:rPr sz="3400" b="0" i="1">
                <a:solidFill>
                  <a:srgbClr val="F2F0EB"/>
                </a:solidFill>
                <a:latin typeface="Georgia"/>
              </a:rPr>
              <a:t>El triunfo y el desastre te dicen quién crees que eres.
La verdad la escribes tú, después.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914400" y="914400"/>
            <a:ext cx="10362895" cy="731520"/>
          </a:xfrm>
          <a:prstGeom prst="rect">
            <a:avLst/>
          </a:prstGeom>
          <a:noFill/>
        </p:spPr>
        <p:txBody>
          <a:bodyPr wrap="square" anchor="ctr">
            <a:spAutoFit/>
          </a:bodyPr>
          <a:lstStyle/>
          <a:p>
            <a:pPr algn="ctr"/>
            <a:r>
              <a:rPr sz="2000" b="1" i="0">
                <a:solidFill>
                  <a:srgbClr val="C9A227"/>
                </a:solidFill>
                <a:latin typeface="Calibri"/>
              </a:rPr>
              <a:t>RESILIENCIA</a:t>
            </a:r>
          </a:p>
        </p:txBody>
      </p:sp>
      <p:sp>
        <p:nvSpPr>
          <p:cNvPr id="3" name="TextBox 2"/>
          <p:cNvSpPr txBox="1"/>
          <p:nvPr/>
        </p:nvSpPr>
        <p:spPr>
          <a:xfrm>
            <a:off x="1097280" y="2194560"/>
            <a:ext cx="9997135" cy="2743200"/>
          </a:xfrm>
          <a:prstGeom prst="rect">
            <a:avLst/>
          </a:prstGeom>
          <a:noFill/>
        </p:spPr>
        <p:txBody>
          <a:bodyPr wrap="square" anchor="ctr">
            <a:spAutoFit/>
          </a:bodyPr>
          <a:lstStyle/>
          <a:p>
            <a:pPr algn="ctr"/>
            <a:r>
              <a:rPr sz="3400" i="1">
                <a:solidFill>
                  <a:srgbClr val="F2F0EB"/>
                </a:solidFill>
                <a:latin typeface="Georgia"/>
              </a:rPr>
              <a:t>«…resistir cuando ya nada te queda,
salvo la Voluntad que dice: ¡Resistid!»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2286000" y="2743200"/>
            <a:ext cx="7619695" cy="1371600"/>
          </a:xfrm>
          <a:prstGeom prst="rect">
            <a:avLst/>
          </a:prstGeom>
          <a:noFill/>
        </p:spPr>
        <p:txBody>
          <a:bodyPr wrap="square" anchor="ctr">
            <a:spAutoFit/>
          </a:bodyPr>
          <a:lstStyle/>
          <a:p>
            <a:pPr algn="ctr"/>
            <a:r>
              <a:rPr sz="1800" i="1">
                <a:solidFill>
                  <a:srgbClr val="8A8A8A"/>
                </a:solidFill>
                <a:latin typeface="Calibri"/>
              </a:rPr>
              <a:t>🖼️  Madrid / tu familia llegando / skyline  (opcional)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2286000" y="2743200"/>
            <a:ext cx="7619695" cy="1371600"/>
          </a:xfrm>
          <a:prstGeom prst="rect">
            <a:avLst/>
          </a:prstGeom>
          <a:noFill/>
        </p:spPr>
        <p:txBody>
          <a:bodyPr wrap="square" anchor="ctr">
            <a:spAutoFit/>
          </a:bodyPr>
          <a:lstStyle/>
          <a:p>
            <a:pPr algn="ctr"/>
            <a:r>
              <a:rPr sz="1800" i="1">
                <a:solidFill>
                  <a:srgbClr val="8A8A8A"/>
                </a:solidFill>
                <a:latin typeface="Calibri"/>
              </a:rPr>
              <a:t>🖼️  Foto antigua de rugby  (recomendada: cierra el círculo del 'segundo tiempo')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914400" y="2377440"/>
            <a:ext cx="10362895" cy="2103120"/>
          </a:xfrm>
          <a:prstGeom prst="rect">
            <a:avLst/>
          </a:prstGeom>
          <a:noFill/>
        </p:spPr>
        <p:txBody>
          <a:bodyPr wrap="square" anchor="ctr">
            <a:spAutoFit/>
          </a:bodyPr>
          <a:lstStyle/>
          <a:p>
            <a:pPr algn="ctr"/>
            <a:r>
              <a:rPr sz="4400" b="0" i="0">
                <a:solidFill>
                  <a:srgbClr val="F2F0EB"/>
                </a:solidFill>
                <a:latin typeface="Georgia"/>
              </a:rPr>
              <a:t>Esclerosis múltiple.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914400" y="2103120"/>
            <a:ext cx="10362895" cy="914400"/>
          </a:xfrm>
          <a:prstGeom prst="rect">
            <a:avLst/>
          </a:prstGeom>
          <a:noFill/>
        </p:spPr>
        <p:txBody>
          <a:bodyPr wrap="square" anchor="ctr">
            <a:spAutoFit/>
          </a:bodyPr>
          <a:lstStyle/>
          <a:p>
            <a:pPr algn="ctr"/>
            <a:r>
              <a:rPr sz="3400" b="0" i="1">
                <a:solidFill>
                  <a:srgbClr val="F2F0EB"/>
                </a:solidFill>
                <a:latin typeface="Georgia"/>
              </a:rPr>
              <a:t>No puedo controlar el viento.</a:t>
            </a:r>
          </a:p>
        </p:txBody>
      </p:sp>
      <p:sp>
        <p:nvSpPr>
          <p:cNvPr id="3" name="TextBox 2"/>
          <p:cNvSpPr txBox="1"/>
          <p:nvPr/>
        </p:nvSpPr>
        <p:spPr>
          <a:xfrm>
            <a:off x="914400" y="3200400"/>
            <a:ext cx="10362895" cy="914400"/>
          </a:xfrm>
          <a:prstGeom prst="rect">
            <a:avLst/>
          </a:prstGeom>
          <a:noFill/>
        </p:spPr>
        <p:txBody>
          <a:bodyPr wrap="square" anchor="ctr">
            <a:spAutoFit/>
          </a:bodyPr>
          <a:lstStyle/>
          <a:p>
            <a:pPr algn="ctr"/>
            <a:r>
              <a:rPr sz="3400" b="0" i="1">
                <a:solidFill>
                  <a:srgbClr val="C9A227"/>
                </a:solidFill>
                <a:latin typeface="Georgia"/>
              </a:rPr>
              <a:t>Pero puedo ajustar las velas.</a:t>
            </a:r>
          </a:p>
        </p:txBody>
      </p:sp>
      <p:sp>
        <p:nvSpPr>
          <p:cNvPr id="4" name="TextBox 3"/>
          <p:cNvSpPr txBox="1"/>
          <p:nvPr/>
        </p:nvSpPr>
        <p:spPr>
          <a:xfrm>
            <a:off x="914400" y="4754880"/>
            <a:ext cx="10362895" cy="548640"/>
          </a:xfrm>
          <a:prstGeom prst="rect">
            <a:avLst/>
          </a:prstGeom>
          <a:noFill/>
        </p:spPr>
        <p:txBody>
          <a:bodyPr wrap="square" anchor="ctr">
            <a:spAutoFit/>
          </a:bodyPr>
          <a:lstStyle/>
          <a:p>
            <a:pPr algn="ctr"/>
            <a:r>
              <a:rPr sz="1300" b="0" i="1">
                <a:solidFill>
                  <a:srgbClr val="8A8A8A"/>
                </a:solidFill>
                <a:latin typeface="Calibri"/>
              </a:rPr>
              <a:t>🖼️ fondo: velero / velas al viento (opcional)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914400" y="2377440"/>
            <a:ext cx="10362895" cy="2103120"/>
          </a:xfrm>
          <a:prstGeom prst="rect">
            <a:avLst/>
          </a:prstGeom>
          <a:noFill/>
        </p:spPr>
        <p:txBody>
          <a:bodyPr wrap="square" anchor="ctr">
            <a:spAutoFit/>
          </a:bodyPr>
          <a:lstStyle/>
          <a:p>
            <a:pPr algn="ctr"/>
            <a:r>
              <a:rPr sz="3600" b="0" i="1">
                <a:solidFill>
                  <a:srgbClr val="F2F0EB"/>
                </a:solidFill>
                <a:latin typeface="Georgia"/>
              </a:rPr>
              <a:t>¿Cómo?   ¿Con quién?   ¿Dónde?
y, sobre todo… ¿para qué?</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914400" y="914400"/>
            <a:ext cx="10362895" cy="731520"/>
          </a:xfrm>
          <a:prstGeom prst="rect">
            <a:avLst/>
          </a:prstGeom>
          <a:noFill/>
        </p:spPr>
        <p:txBody>
          <a:bodyPr wrap="square" anchor="ctr">
            <a:spAutoFit/>
          </a:bodyPr>
          <a:lstStyle/>
          <a:p>
            <a:pPr algn="ctr"/>
            <a:r>
              <a:rPr sz="2000" b="1" i="0">
                <a:solidFill>
                  <a:srgbClr val="C9A227"/>
                </a:solidFill>
                <a:latin typeface="Calibri"/>
              </a:rPr>
              <a:t>INTEGRIDAD</a:t>
            </a:r>
          </a:p>
        </p:txBody>
      </p:sp>
      <p:sp>
        <p:nvSpPr>
          <p:cNvPr id="3" name="TextBox 2"/>
          <p:cNvSpPr txBox="1"/>
          <p:nvPr/>
        </p:nvSpPr>
        <p:spPr>
          <a:xfrm>
            <a:off x="1097280" y="2194560"/>
            <a:ext cx="9997135" cy="2743200"/>
          </a:xfrm>
          <a:prstGeom prst="rect">
            <a:avLst/>
          </a:prstGeom>
          <a:noFill/>
        </p:spPr>
        <p:txBody>
          <a:bodyPr wrap="square" anchor="ctr">
            <a:spAutoFit/>
          </a:bodyPr>
          <a:lstStyle/>
          <a:p>
            <a:pPr algn="ctr"/>
            <a:r>
              <a:rPr sz="3400" i="1">
                <a:solidFill>
                  <a:srgbClr val="F2F0EB"/>
                </a:solidFill>
                <a:latin typeface="Georgia"/>
              </a:rPr>
              <a:t>«…llenar el implacable minuto
con sesenta segundos de esfuerzo cumplido…»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2286000" y="2743200"/>
            <a:ext cx="7619695" cy="1371600"/>
          </a:xfrm>
          <a:prstGeom prst="rect">
            <a:avLst/>
          </a:prstGeom>
          <a:noFill/>
        </p:spPr>
        <p:txBody>
          <a:bodyPr wrap="square" anchor="ctr">
            <a:spAutoFit/>
          </a:bodyPr>
          <a:lstStyle/>
          <a:p>
            <a:pPr algn="ctr"/>
            <a:r>
              <a:rPr sz="1800" i="1">
                <a:solidFill>
                  <a:srgbClr val="8A8A8A"/>
                </a:solidFill>
                <a:latin typeface="Calibri"/>
              </a:rPr>
              <a:t>🖼️  Foto tuya actual / con tu familia / en 'tu camino'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914400" y="2194560"/>
            <a:ext cx="10362895" cy="2468880"/>
          </a:xfrm>
          <a:prstGeom prst="rect">
            <a:avLst/>
          </a:prstGeom>
          <a:noFill/>
        </p:spPr>
        <p:txBody>
          <a:bodyPr wrap="square">
            <a:spAutoFit/>
          </a:bodyPr>
          <a:lstStyle/>
          <a:p>
            <a:pPr algn="ctr"/>
            <a:r>
              <a:rPr sz="3000">
                <a:solidFill>
                  <a:srgbClr val="F2F0EB"/>
                </a:solidFill>
                <a:latin typeface="Georgia"/>
              </a:rPr>
              <a:t>Serenidad</a:t>
            </a:r>
          </a:p>
          <a:p>
            <a:pPr algn="ctr"/>
            <a:r>
              <a:rPr sz="3000">
                <a:solidFill>
                  <a:srgbClr val="C9A227"/>
                </a:solidFill>
                <a:latin typeface="Georgia"/>
              </a:rPr>
              <a:t>Equilibrio</a:t>
            </a:r>
          </a:p>
          <a:p>
            <a:pPr algn="ctr"/>
            <a:r>
              <a:rPr sz="3000">
                <a:solidFill>
                  <a:srgbClr val="F2F0EB"/>
                </a:solidFill>
                <a:latin typeface="Georgia"/>
              </a:rPr>
              <a:t>Resiliencia</a:t>
            </a:r>
          </a:p>
          <a:p>
            <a:pPr algn="ctr"/>
            <a:r>
              <a:rPr sz="3000">
                <a:solidFill>
                  <a:srgbClr val="C9A227"/>
                </a:solidFill>
                <a:latin typeface="Georgia"/>
              </a:rPr>
              <a:t>Integridad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914400" y="2377440"/>
            <a:ext cx="10362895" cy="2103120"/>
          </a:xfrm>
          <a:prstGeom prst="rect">
            <a:avLst/>
          </a:prstGeom>
          <a:noFill/>
        </p:spPr>
        <p:txBody>
          <a:bodyPr wrap="square" anchor="ctr">
            <a:spAutoFit/>
          </a:bodyPr>
          <a:lstStyle/>
          <a:p>
            <a:pPr algn="ctr"/>
            <a:r>
              <a:rPr sz="3400" b="0" i="1">
                <a:solidFill>
                  <a:srgbClr val="F2F0EB"/>
                </a:solidFill>
                <a:latin typeface="Georgia"/>
              </a:rPr>
              <a:t>La meta no es el destino.
La meta es el camino.
Y de ti depende ser su protagonista.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914400" y="2926080"/>
            <a:ext cx="10362895" cy="1005840"/>
          </a:xfrm>
          <a:prstGeom prst="rect">
            <a:avLst/>
          </a:prstGeom>
          <a:noFill/>
        </p:spPr>
        <p:txBody>
          <a:bodyPr wrap="square" anchor="ctr">
            <a:spAutoFit/>
          </a:bodyPr>
          <a:lstStyle/>
          <a:p>
            <a:pPr algn="ctr"/>
            <a:r>
              <a:rPr sz="2000" b="0" i="0">
                <a:solidFill>
                  <a:srgbClr val="8A8A8A"/>
                </a:solidFill>
                <a:latin typeface="Calibri"/>
              </a:rPr>
              <a:t>▶  [ INSERTAR VÍDEO DE MICHAEL CAINE — «If» con subtítulos ES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2286000" y="2743200"/>
            <a:ext cx="7619695" cy="1371600"/>
          </a:xfrm>
          <a:prstGeom prst="rect">
            <a:avLst/>
          </a:prstGeom>
          <a:noFill/>
        </p:spPr>
        <p:txBody>
          <a:bodyPr wrap="square" anchor="ctr">
            <a:spAutoFit/>
          </a:bodyPr>
          <a:lstStyle/>
          <a:p>
            <a:pPr algn="ctr"/>
            <a:r>
              <a:rPr sz="1800" i="1">
                <a:solidFill>
                  <a:srgbClr val="8A8A8A"/>
                </a:solidFill>
                <a:latin typeface="Calibri"/>
              </a:rPr>
              <a:t>🖼️  Foto de Iñaki HOY (caminando), tenue  ·  o deja negro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914400" y="2377440"/>
            <a:ext cx="10362895" cy="1463040"/>
          </a:xfrm>
          <a:prstGeom prst="rect">
            <a:avLst/>
          </a:prstGeom>
          <a:noFill/>
        </p:spPr>
        <p:txBody>
          <a:bodyPr wrap="square" anchor="ctr">
            <a:spAutoFit/>
          </a:bodyPr>
          <a:lstStyle/>
          <a:p>
            <a:pPr algn="ctr"/>
            <a:r>
              <a:rPr sz="7200" b="0" i="0">
                <a:solidFill>
                  <a:srgbClr val="F2F0EB"/>
                </a:solidFill>
                <a:latin typeface="Georgia"/>
              </a:rPr>
              <a:t>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